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0116" y="1005840"/>
            <a:ext cx="1188720" cy="118872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3" name="Image 0" descr="/home/claude/krishsense-ppt/icons/spr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13030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KrishiSense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E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Soil Intelligence for Indian Farmers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53212" y="4709160"/>
            <a:ext cx="2084832" cy="566928"/>
          </a:xfrm>
          <a:prstGeom prst="roundRect">
            <a:avLst>
              <a:gd name="adj" fmla="val 80645"/>
            </a:avLst>
          </a:prstGeom>
          <a:solidFill>
            <a:srgbClr val="163A2B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7" name="Image 1" descr="/home/claude/krishsense-ppt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482803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3564" y="47091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802636" y="4709160"/>
            <a:ext cx="2084832" cy="566928"/>
          </a:xfrm>
          <a:prstGeom prst="roundRect">
            <a:avLst>
              <a:gd name="adj" fmla="val 80645"/>
            </a:avLst>
          </a:prstGeom>
          <a:solidFill>
            <a:srgbClr val="163A2B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10" name="Image 2" descr="/home/claude/krishsense-ppt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482803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2988" y="47091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052060" y="4709160"/>
            <a:ext cx="2084832" cy="566928"/>
          </a:xfrm>
          <a:prstGeom prst="roundRect">
            <a:avLst>
              <a:gd name="adj" fmla="val 80645"/>
            </a:avLst>
          </a:prstGeom>
          <a:solidFill>
            <a:srgbClr val="163A2B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13" name="Image 3" descr="/home/claude/krishsense-ppt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64" y="4828032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82412" y="47091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301484" y="4709160"/>
            <a:ext cx="2084832" cy="566928"/>
          </a:xfrm>
          <a:prstGeom prst="roundRect">
            <a:avLst>
              <a:gd name="adj" fmla="val 80645"/>
            </a:avLst>
          </a:prstGeom>
          <a:solidFill>
            <a:srgbClr val="163A2B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16" name="Image 4" descr="/home/claude/krishsense-ppt/icons/braincircu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4828032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31836" y="47091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550908" y="4709160"/>
            <a:ext cx="2084832" cy="566928"/>
          </a:xfrm>
          <a:prstGeom prst="roundRect">
            <a:avLst>
              <a:gd name="adj" fmla="val 80645"/>
            </a:avLst>
          </a:prstGeom>
          <a:solidFill>
            <a:srgbClr val="163A2B"/>
          </a:solidFill>
          <a:ln w="12700">
            <a:solidFill>
              <a:srgbClr val="2E6B4F"/>
            </a:solidFill>
            <a:prstDash val="solid"/>
          </a:ln>
        </p:spPr>
      </p:sp>
      <p:pic>
        <p:nvPicPr>
          <p:cNvPr id="19" name="Image 5" descr="/home/claude/krishsense-ppt/icons/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7212" y="4828032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81260" y="47091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0" y="5806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B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AI  ·  Loans  ·  Marketplace  ·  Admin Console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KrishiSense?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platform that lets farmers photograph their soil and get an instant, AI-generated diagnosis — soil type, health score, risk level, nutrients and crop guidance — then act on it through built-in loan and marketplace tools, all overseen by an admin console.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23467" y="2514600"/>
            <a:ext cx="868680" cy="86868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5" name="Image 0" descr="/home/claude/krishsense-ppt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637" y="2731770"/>
            <a:ext cx="434340" cy="4343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65299" y="2948940"/>
            <a:ext cx="120335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58368" y="35478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9867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farmer or admin accounts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41802" y="2514600"/>
            <a:ext cx="868680" cy="86868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0" name="Image 1" descr="/home/claude/krishsense-ppt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972" y="2731770"/>
            <a:ext cx="434340" cy="4343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3634" y="2948940"/>
            <a:ext cx="120335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2876702" y="35478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Soil Photo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76702" y="39867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crop, location &amp; land details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660136" y="2514600"/>
            <a:ext cx="868680" cy="86868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5" name="Image 2" descr="/home/claude/krishsense-ppt/icons/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06" y="2731770"/>
            <a:ext cx="434340" cy="4343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601968" y="2948940"/>
            <a:ext cx="120335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17" name="Text 12"/>
          <p:cNvSpPr/>
          <p:nvPr/>
        </p:nvSpPr>
        <p:spPr>
          <a:xfrm>
            <a:off x="5095037" y="35478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Diagnosis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95037" y="39867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a structured soil report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878470" y="2514600"/>
            <a:ext cx="868680" cy="86868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0" name="Image 3" descr="/home/claude/krishsense-ppt/icons/wa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640" y="2731770"/>
            <a:ext cx="434340" cy="4343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20302" y="2948940"/>
            <a:ext cx="120335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22" name="Text 16"/>
          <p:cNvSpPr/>
          <p:nvPr/>
        </p:nvSpPr>
        <p:spPr>
          <a:xfrm>
            <a:off x="7313371" y="35478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Marketplace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3371" y="39867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credit, buy farm inputs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0096805" y="2514600"/>
            <a:ext cx="868680" cy="868680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5" name="Image 4" descr="/home/claude/krishsense-ppt/icons/layout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3975" y="2731770"/>
            <a:ext cx="434340" cy="4343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31706" y="35478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531706" y="39867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 &amp; manage every record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7F2"/>
          </a:solidFill>
          <a:ln/>
        </p:spPr>
      </p:sp>
      <p:sp>
        <p:nvSpPr>
          <p:cNvPr id="29" name="Text 22"/>
          <p:cNvSpPr/>
          <p:nvPr/>
        </p:nvSpPr>
        <p:spPr>
          <a:xfrm>
            <a:off x="676656" y="528523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Platform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76656" y="5596128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manage their own soil reports, loans and marketplace orders — admins see and manage every farmer's records from one console.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4" name="Shape 2"/>
          <p:cNvSpPr/>
          <p:nvPr/>
        </p:nvSpPr>
        <p:spPr>
          <a:xfrm>
            <a:off x="1528191" y="1636776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5" name="Image 0" descr="/home/claude/krishsense-pp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094" y="1776679"/>
            <a:ext cx="341986" cy="34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50008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2715768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&amp; build tooling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85566" y="1417320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9" name="Shape 6"/>
          <p:cNvSpPr/>
          <p:nvPr/>
        </p:nvSpPr>
        <p:spPr>
          <a:xfrm>
            <a:off x="4365117" y="1636776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0" name="Image 1" descr="/home/claude/krishsense-ppt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020" y="1776679"/>
            <a:ext cx="341986" cy="3419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7006" y="2350008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95294" y="2715768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22492" y="1417320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14" name="Shape 10"/>
          <p:cNvSpPr/>
          <p:nvPr/>
        </p:nvSpPr>
        <p:spPr>
          <a:xfrm>
            <a:off x="7202043" y="1636776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5" name="Image 2" descr="/home/claude/krishsense-ppt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946" y="1776679"/>
            <a:ext cx="341986" cy="3419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13932" y="2350008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32220" y="2715768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9059418" y="1417320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38969" y="1636776"/>
            <a:ext cx="621792" cy="621792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20" name="Image 3" descr="/home/claude/krishsense-ppt/icons/braincircu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8872" y="1776679"/>
            <a:ext cx="341986" cy="3419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50858" y="2350008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69146" y="2715768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soil-photo AI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48640" y="3639312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24" name="Shape 18"/>
          <p:cNvSpPr/>
          <p:nvPr/>
        </p:nvSpPr>
        <p:spPr>
          <a:xfrm>
            <a:off x="1528191" y="3858768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5" name="Image 4" descr="/home/claude/krishsense-ppt/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094" y="3998671"/>
            <a:ext cx="341986" cy="3419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4572000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58368" y="4937760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Soil-photo image hosting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385566" y="3639312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29" name="Shape 22"/>
          <p:cNvSpPr/>
          <p:nvPr/>
        </p:nvSpPr>
        <p:spPr>
          <a:xfrm>
            <a:off x="4365117" y="3858768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30" name="Image 5" descr="/home/claude/krishsense-ppt/icons/keyrou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020" y="3998671"/>
            <a:ext cx="341986" cy="34198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77006" y="4572000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495294" y="4937760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password hashing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222492" y="3639312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34" name="Shape 26"/>
          <p:cNvSpPr/>
          <p:nvPr/>
        </p:nvSpPr>
        <p:spPr>
          <a:xfrm>
            <a:off x="7202043" y="3858768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35" name="Image 6" descr="/home/claude/krishsense-ppt/icons/shield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1946" y="3998671"/>
            <a:ext cx="341986" cy="34198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13932" y="4572000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Zod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332220" y="4937760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&amp; validation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9059418" y="3639312"/>
            <a:ext cx="2580894" cy="1965960"/>
          </a:xfrm>
          <a:prstGeom prst="roundRect">
            <a:avLst>
              <a:gd name="adj" fmla="val 3721"/>
            </a:avLst>
          </a:prstGeom>
          <a:solidFill>
            <a:srgbClr val="F4F7F2"/>
          </a:solidFill>
          <a:ln/>
        </p:spPr>
      </p:sp>
      <p:sp>
        <p:nvSpPr>
          <p:cNvPr id="39" name="Shape 30"/>
          <p:cNvSpPr/>
          <p:nvPr/>
        </p:nvSpPr>
        <p:spPr>
          <a:xfrm>
            <a:off x="10038969" y="3858768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40" name="Image 7" descr="/home/claude/krishsense-ppt/icons/rock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8872" y="3998671"/>
            <a:ext cx="341986" cy="34198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50858" y="4572000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Vercel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9169146" y="4937760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4EEE7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76656" y="2898648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(Vite build)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Dashboard UI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JSON calls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60520" y="19659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1F4D3A"/>
          </a:solidFill>
          <a:ln/>
        </p:spPr>
      </p:sp>
      <p:sp>
        <p:nvSpPr>
          <p:cNvPr id="7" name="Text 5"/>
          <p:cNvSpPr/>
          <p:nvPr/>
        </p:nvSpPr>
        <p:spPr>
          <a:xfrm>
            <a:off x="4288536" y="203911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88536" y="2350008"/>
            <a:ext cx="3172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security headers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origin allowlist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(200/15min)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auth / analyses /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/ market / assistant / admin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49640" y="123444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4F7F2"/>
          </a:solidFill>
          <a:ln/>
        </p:spPr>
      </p:sp>
      <p:sp>
        <p:nvSpPr>
          <p:cNvPr id="10" name="Text 8"/>
          <p:cNvSpPr/>
          <p:nvPr/>
        </p:nvSpPr>
        <p:spPr>
          <a:xfrm>
            <a:off x="8677656" y="130759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77656" y="16184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analyses,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orders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49640" y="265176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4F7F2"/>
          </a:solidFill>
          <a:ln/>
        </p:spPr>
      </p:sp>
      <p:sp>
        <p:nvSpPr>
          <p:cNvPr id="13" name="Text 11"/>
          <p:cNvSpPr/>
          <p:nvPr/>
        </p:nvSpPr>
        <p:spPr>
          <a:xfrm>
            <a:off x="8677656" y="272491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77656" y="303580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photo storage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secure URL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49640" y="406908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BEFDA"/>
          </a:solidFill>
          <a:ln/>
        </p:spPr>
      </p:sp>
      <p:sp>
        <p:nvSpPr>
          <p:cNvPr id="16" name="Text 14"/>
          <p:cNvSpPr/>
          <p:nvPr/>
        </p:nvSpPr>
        <p:spPr>
          <a:xfrm>
            <a:off x="8677656" y="4142232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77656" y="445312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soil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(JSON)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3429000"/>
            <a:ext cx="1234440" cy="9144"/>
          </a:xfrm>
          <a:prstGeom prst="line">
            <a:avLst/>
          </a:prstGeom>
          <a:noFill/>
          <a:ln w="25400">
            <a:solidFill>
              <a:srgbClr val="4C836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26080" y="2926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JWT Bearer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7589520" y="1737360"/>
            <a:ext cx="960120" cy="1691640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7589520" y="3154680"/>
            <a:ext cx="960120" cy="274320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3429000"/>
            <a:ext cx="960120" cy="1143000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build: Express serves the compiled SPA from dist/ and falls back to index.html for client-side routing (Vercel instead routes /api/* to a serverless function).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Access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69187" y="182880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4" name="Text 2"/>
          <p:cNvSpPr/>
          <p:nvPr/>
        </p:nvSpPr>
        <p:spPr>
          <a:xfrm>
            <a:off x="1269187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19579" y="221742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58368" y="277063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320954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submits email + password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7522" y="182880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9" name="Text 7"/>
          <p:cNvSpPr/>
          <p:nvPr/>
        </p:nvSpPr>
        <p:spPr>
          <a:xfrm>
            <a:off x="348752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37914" y="221742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76702" y="277063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&amp; verify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76702" y="320954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12-round password hashing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05856" y="182880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14" name="Text 12"/>
          <p:cNvSpPr/>
          <p:nvPr/>
        </p:nvSpPr>
        <p:spPr>
          <a:xfrm>
            <a:off x="5705856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56248" y="221742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95037" y="277063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95037" y="320954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user id + role, 7-day expiry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24190" y="182880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19" name="Text 17"/>
          <p:cNvSpPr/>
          <p:nvPr/>
        </p:nvSpPr>
        <p:spPr>
          <a:xfrm>
            <a:off x="792419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774582" y="221742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313371" y="277063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3371" y="320954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every API request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42525" y="182880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2525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31706" y="277063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531706" y="320954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verifies; requireAdmin checks role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4EEE7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450799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 Stack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" y="4818888"/>
            <a:ext cx="5093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Helmet: strict Content-Security-Policy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explicit client-origin allowlist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express-rate-limit: 200 req / 15 min on /api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4348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BEFDA"/>
          </a:solidFill>
          <a:ln/>
        </p:spPr>
      </p:sp>
      <p:sp>
        <p:nvSpPr>
          <p:cNvPr id="31" name="Text 29"/>
          <p:cNvSpPr/>
          <p:nvPr/>
        </p:nvSpPr>
        <p:spPr>
          <a:xfrm>
            <a:off x="6391656" y="4507992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91656" y="4818888"/>
            <a:ext cx="5093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farmer: analyses, loans, marketplace, assistant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every /api/admin/* route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are rejected at login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Flow — Soil Photo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/api/analyses  ·  POST /api/analyses/identify-soil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91356" y="141732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4119372" y="1490472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uploads photo + crop / land details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4476" y="1947672"/>
            <a:ext cx="9144" cy="201168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91356" y="21488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7F2"/>
          </a:solidFill>
          <a:ln/>
        </p:spPr>
      </p:sp>
      <p:sp>
        <p:nvSpPr>
          <p:cNvPr id="8" name="Text 6"/>
          <p:cNvSpPr/>
          <p:nvPr/>
        </p:nvSpPr>
        <p:spPr>
          <a:xfrm>
            <a:off x="4119372" y="2221992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parses multipart upload (image + form fields)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31436" y="2724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— runs in parallel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E4EEE7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313639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Upload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2416" y="3447288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soil photo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secure URL + public 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59752" y="30632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BEFDA"/>
          </a:solidFill>
          <a:ln/>
        </p:spPr>
      </p:sp>
      <p:sp>
        <p:nvSpPr>
          <p:cNvPr id="14" name="Text 12"/>
          <p:cNvSpPr/>
          <p:nvPr/>
        </p:nvSpPr>
        <p:spPr>
          <a:xfrm>
            <a:off x="7287768" y="313639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analyzeSoilPhoto()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87768" y="3447288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context sent as prompt</a:t>
            </a:r>
            <a:endParaRPr lang="en-US" sz="9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9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strict structured JSON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H="1">
            <a:off x="2971800" y="2999232"/>
            <a:ext cx="3122676" cy="64008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94476" y="2999232"/>
            <a:ext cx="3122676" cy="64008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71800" y="4023360"/>
            <a:ext cx="3122676" cy="201168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6094476" y="4023360"/>
            <a:ext cx="3122676" cy="201168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91356" y="422452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1F4D3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9372" y="429768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document saved to MongoDB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94476" y="4754880"/>
            <a:ext cx="9144" cy="201168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91356" y="495604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4F7F2"/>
          </a:solidFill>
          <a:ln/>
        </p:spPr>
      </p:sp>
      <p:sp>
        <p:nvSpPr>
          <p:cNvPr id="24" name="Text 22"/>
          <p:cNvSpPr/>
          <p:nvPr/>
        </p:nvSpPr>
        <p:spPr>
          <a:xfrm>
            <a:off x="4119372" y="5029200"/>
            <a:ext cx="3950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returned to the farmer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554480" y="5733288"/>
            <a:ext cx="1058875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5733288"/>
            <a:ext cx="105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Type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1371" y="5733288"/>
            <a:ext cx="1133856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28" name="Text 26"/>
          <p:cNvSpPr/>
          <p:nvPr/>
        </p:nvSpPr>
        <p:spPr>
          <a:xfrm>
            <a:off x="2741371" y="57332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03243" y="5733288"/>
            <a:ext cx="1283818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30" name="Text 28"/>
          <p:cNvSpPr/>
          <p:nvPr/>
        </p:nvSpPr>
        <p:spPr>
          <a:xfrm>
            <a:off x="4003243" y="5733288"/>
            <a:ext cx="12838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15077" y="5733288"/>
            <a:ext cx="1133856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32" name="Text 30"/>
          <p:cNvSpPr/>
          <p:nvPr/>
        </p:nvSpPr>
        <p:spPr>
          <a:xfrm>
            <a:off x="5415077" y="57332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6949" y="5733288"/>
            <a:ext cx="1058875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34" name="Text 32"/>
          <p:cNvSpPr/>
          <p:nvPr/>
        </p:nvSpPr>
        <p:spPr>
          <a:xfrm>
            <a:off x="6676949" y="5733288"/>
            <a:ext cx="105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63840" y="5733288"/>
            <a:ext cx="1508760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5733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500616" y="5733288"/>
            <a:ext cx="1133856" cy="329184"/>
          </a:xfrm>
          <a:prstGeom prst="roundRect">
            <a:avLst>
              <a:gd name="adj" fmla="val 138889"/>
            </a:avLst>
          </a:prstGeom>
          <a:solidFill>
            <a:srgbClr val="E4EEE7"/>
          </a:solidFill>
          <a:ln/>
        </p:spPr>
      </p:sp>
      <p:sp>
        <p:nvSpPr>
          <p:cNvPr id="38" name="Text 36"/>
          <p:cNvSpPr/>
          <p:nvPr/>
        </p:nvSpPr>
        <p:spPr>
          <a:xfrm>
            <a:off x="9500616" y="57332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Gemini Builds the Soil Report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E4EEE7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139903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Context Sent to Gemini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76656" y="1709928"/>
            <a:ext cx="486460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 (field report / identifier)</a:t>
            </a:r>
            <a:endParaRPr lang="en-US" sz="11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grown</a:t>
            </a:r>
            <a:endParaRPr lang="en-US" sz="11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type</a:t>
            </a:r>
            <a:endParaRPr lang="en-US" sz="11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notes</a:t>
            </a:r>
            <a:endParaRPr lang="en-US" sz="11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observed texture, drainage, pH</a:t>
            </a:r>
            <a:endParaRPr lang="en-US" sz="115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sent as inline base64 image 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89320" y="1325880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(responseSchema)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783080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soilType (enum)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83396" y="1783080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10" name="Text 8"/>
          <p:cNvSpPr/>
          <p:nvPr/>
        </p:nvSpPr>
        <p:spPr>
          <a:xfrm>
            <a:off x="8883396" y="1783080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0–100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2295144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295144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healthScore 0–100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83396" y="2295144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14" name="Text 12"/>
          <p:cNvSpPr/>
          <p:nvPr/>
        </p:nvSpPr>
        <p:spPr>
          <a:xfrm>
            <a:off x="8883396" y="2295144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2807208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807208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83396" y="2807208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18" name="Text 16"/>
          <p:cNvSpPr/>
          <p:nvPr/>
        </p:nvSpPr>
        <p:spPr>
          <a:xfrm>
            <a:off x="8883396" y="2807208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visibleColor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3319272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319272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nutrients[]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83396" y="3319272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22" name="Text 20"/>
          <p:cNvSpPr/>
          <p:nvPr/>
        </p:nvSpPr>
        <p:spPr>
          <a:xfrm>
            <a:off x="8883396" y="3319272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cropSuitability[]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3831336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3831336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recommendations[]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83396" y="3831336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26" name="Text 24"/>
          <p:cNvSpPr/>
          <p:nvPr/>
        </p:nvSpPr>
        <p:spPr>
          <a:xfrm>
            <a:off x="8883396" y="3831336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warnings[]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4343400"/>
            <a:ext cx="2756916" cy="402336"/>
          </a:xfrm>
          <a:prstGeom prst="roundRect">
            <a:avLst>
              <a:gd name="adj" fmla="val 113636"/>
            </a:avLst>
          </a:prstGeom>
          <a:solidFill>
            <a:srgbClr val="FBEFD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4343400"/>
            <a:ext cx="27569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901184"/>
            <a:ext cx="5650992" cy="1234440"/>
          </a:xfrm>
          <a:prstGeom prst="roundRect">
            <a:avLst>
              <a:gd name="adj" fmla="val 5926"/>
            </a:avLst>
          </a:prstGeom>
          <a:solidFill>
            <a:srgbClr val="F4F7F2"/>
          </a:solidFill>
          <a:ln/>
        </p:spPr>
      </p:sp>
      <p:sp>
        <p:nvSpPr>
          <p:cNvPr id="30" name="Text 28"/>
          <p:cNvSpPr/>
          <p:nvPr/>
        </p:nvSpPr>
        <p:spPr>
          <a:xfrm>
            <a:off x="6117336" y="49743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soilType enum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17336" y="528523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· Sandy · Loamy · Silty · Peaty · Chalky · Laterite · Alluvial · Unknown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responseMimeType: "application/json" + a strict responseSchema force valid JSON every time — temperature 0.2 keeps results consistent.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Farming Assistant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/api/assistant/chat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59836" y="141732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3387852" y="1490472"/>
            <a:ext cx="5413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question + context (soil type, crop, location, health score)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4476" y="2057400"/>
            <a:ext cx="9144" cy="22860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59836" y="228600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BEFDA"/>
          </a:solidFill>
          <a:ln/>
        </p:spPr>
      </p:sp>
      <p:sp>
        <p:nvSpPr>
          <p:cNvPr id="8" name="Text 6"/>
          <p:cNvSpPr/>
          <p:nvPr/>
        </p:nvSpPr>
        <p:spPr>
          <a:xfrm>
            <a:off x="3387852" y="2359152"/>
            <a:ext cx="5413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generateContent() — 4–6 line practical answer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4476" y="2926080"/>
            <a:ext cx="9144" cy="22860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59836" y="315468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F4F7F2"/>
          </a:solidFill>
          <a:ln/>
        </p:spPr>
      </p:sp>
      <p:sp>
        <p:nvSpPr>
          <p:cNvPr id="11" name="Text 9"/>
          <p:cNvSpPr/>
          <p:nvPr/>
        </p:nvSpPr>
        <p:spPr>
          <a:xfrm>
            <a:off x="3387852" y="3227832"/>
            <a:ext cx="5413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check: isIncompleteAssistantAnswer()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flipH="1">
            <a:off x="3154680" y="3721608"/>
            <a:ext cx="2574036" cy="713232"/>
          </a:xfrm>
          <a:prstGeom prst="line">
            <a:avLst/>
          </a:prstGeom>
          <a:noFill/>
          <a:ln w="19050">
            <a:solidFill>
              <a:srgbClr val="B23B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60236" y="3721608"/>
            <a:ext cx="2939796" cy="713232"/>
          </a:xfrm>
          <a:prstGeom prst="line">
            <a:avLst/>
          </a:prstGeom>
          <a:noFill/>
          <a:ln w="19050">
            <a:solidFill>
              <a:srgbClr val="4C836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/ too short / low quality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59752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quality check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443484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E4EEE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450799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Rule-Based Answer Engine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42416" y="4818888"/>
            <a:ext cx="4224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rules: fertilizer, water, crop-growth</a:t>
            </a:r>
            <a:endParaRPr lang="en-US" sz="10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available, works offline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9752" y="443484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FBEFDA"/>
          </a:solidFill>
          <a:ln/>
        </p:spPr>
      </p:sp>
      <p:sp>
        <p:nvSpPr>
          <p:cNvPr id="20" name="Text 18"/>
          <p:cNvSpPr/>
          <p:nvPr/>
        </p:nvSpPr>
        <p:spPr>
          <a:xfrm>
            <a:off x="7287768" y="450799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 Used As-Is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87768" y="4818888"/>
            <a:ext cx="4224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de-bulleted into plain lines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5577840"/>
            <a:ext cx="2939796" cy="256032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6094476" y="5577840"/>
            <a:ext cx="3305556" cy="256032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59836" y="5833872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1F4D3A"/>
          </a:solidFill>
          <a:ln/>
        </p:spPr>
      </p:sp>
      <p:sp>
        <p:nvSpPr>
          <p:cNvPr id="25" name="Text 23"/>
          <p:cNvSpPr/>
          <p:nvPr/>
        </p:nvSpPr>
        <p:spPr>
          <a:xfrm>
            <a:off x="3387852" y="5907024"/>
            <a:ext cx="5413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to the farmer chat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Applications &amp; Wallet Credit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69187" y="19202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4" name="Text 2"/>
          <p:cNvSpPr/>
          <p:nvPr/>
        </p:nvSpPr>
        <p:spPr>
          <a:xfrm>
            <a:off x="1269187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19579" y="230886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58368" y="28620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Applies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33009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purpose, crop, tenure (months)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7522" y="19202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9" name="Text 7"/>
          <p:cNvSpPr/>
          <p:nvPr/>
        </p:nvSpPr>
        <p:spPr>
          <a:xfrm>
            <a:off x="3487522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37914" y="230886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76702" y="28620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76702" y="33009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stored in MongoDB, awaits 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05856" y="19202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14" name="Text 12"/>
          <p:cNvSpPr/>
          <p:nvPr/>
        </p:nvSpPr>
        <p:spPr>
          <a:xfrm>
            <a:off x="5705856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56248" y="230886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95037" y="28620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95037" y="33009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rejects, with an admin note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24190" y="19202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19" name="Text 17"/>
          <p:cNvSpPr/>
          <p:nvPr/>
        </p:nvSpPr>
        <p:spPr>
          <a:xfrm>
            <a:off x="792419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774582" y="2308860"/>
            <a:ext cx="1294790" cy="9144"/>
          </a:xfrm>
          <a:prstGeom prst="line">
            <a:avLst/>
          </a:prstGeom>
          <a:noFill/>
          <a:ln w="22225">
            <a:solidFill>
              <a:srgbClr val="AFC2B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313371" y="28620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Auto-Credited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3371" y="33009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amount added instantly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42525" y="19202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2525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31706" y="2862072"/>
            <a:ext cx="199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Tracked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531706" y="3300984"/>
            <a:ext cx="19988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paid; bank details masked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4F7F2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450799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Safety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" y="4818888"/>
            <a:ext cx="10835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4 digits of the bank account are ever stored — maskAccountNumber() strips the rest before saving.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&amp; Atomic Transactions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/api/market/orders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01568" cy="2468880"/>
          </a:xfrm>
          <a:prstGeom prst="roundRect">
            <a:avLst>
              <a:gd name="adj" fmla="val 2963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99339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Select &amp; Order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" y="2304288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 seeds, fertilizer &amp; tools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picks item + quantity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POST /api/market/orders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7408" y="1920240"/>
            <a:ext cx="3401568" cy="2468880"/>
          </a:xfrm>
          <a:prstGeom prst="roundRect">
            <a:avLst>
              <a:gd name="adj" fmla="val 2963"/>
            </a:avLst>
          </a:prstGeom>
          <a:solidFill>
            <a:srgbClr val="1F4D3A"/>
          </a:solidFill>
          <a:ln/>
        </p:spPr>
      </p:sp>
      <p:sp>
        <p:nvSpPr>
          <p:cNvPr id="8" name="Text 6"/>
          <p:cNvSpPr/>
          <p:nvPr/>
        </p:nvSpPr>
        <p:spPr>
          <a:xfrm>
            <a:off x="4535424" y="199339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Atomic Wallet Transaction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35424" y="2304288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session.withTransaction()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walletBalance ≥ totalPrice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balance &amp; create the order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— never a partial charge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66176" y="1920240"/>
            <a:ext cx="3401568" cy="2468880"/>
          </a:xfrm>
          <a:prstGeom prst="roundRect">
            <a:avLst>
              <a:gd name="adj" fmla="val 2963"/>
            </a:avLst>
          </a:prstGeom>
          <a:solidFill>
            <a:srgbClr val="FBEFDA"/>
          </a:solidFill>
          <a:ln/>
        </p:spPr>
      </p:sp>
      <p:sp>
        <p:nvSpPr>
          <p:cNvPr id="11" name="Text 9"/>
          <p:cNvSpPr/>
          <p:nvPr/>
        </p:nvSpPr>
        <p:spPr>
          <a:xfrm>
            <a:off x="8394192" y="199339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Fulfillment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94192" y="2304288"/>
            <a:ext cx="3145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starts as “confirmed”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status as it ships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→ packed → delivered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50208" y="3154680"/>
            <a:ext cx="457200" cy="9144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08976" y="3154680"/>
            <a:ext cx="457200" cy="9144"/>
          </a:xfrm>
          <a:prstGeom prst="line">
            <a:avLst/>
          </a:prstGeom>
          <a:noFill/>
          <a:ln w="25400">
            <a:solidFill>
              <a:srgbClr val="1F4D3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6536" cy="2148840"/>
          </a:xfrm>
          <a:prstGeom prst="roundRect">
            <a:avLst>
              <a:gd name="adj" fmla="val 3404"/>
            </a:avLst>
          </a:prstGeom>
          <a:solidFill>
            <a:srgbClr val="F4F7F2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" y="1636776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5" name="Image 0" descr="/home/claude/krishsense-ppt/icons/layout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63" y="1764335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36776"/>
            <a:ext cx="242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237744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analyses, orders, loan pipeline, soil-type mix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31208" y="1417320"/>
            <a:ext cx="3526536" cy="2148840"/>
          </a:xfrm>
          <a:prstGeom prst="roundRect">
            <a:avLst>
              <a:gd name="adj" fmla="val 3404"/>
            </a:avLst>
          </a:prstGeom>
          <a:solidFill>
            <a:srgbClr val="F4F7F2"/>
          </a:solidFill>
          <a:ln/>
        </p:spPr>
      </p:sp>
      <p:sp>
        <p:nvSpPr>
          <p:cNvPr id="9" name="Shape 6"/>
          <p:cNvSpPr/>
          <p:nvPr/>
        </p:nvSpPr>
        <p:spPr>
          <a:xfrm>
            <a:off x="4614672" y="1636776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0" name="Image 1" descr="/home/claude/krishsense-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231" y="1764335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1328" y="1636776"/>
            <a:ext cx="242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32376" y="237744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deactivate, reset password, delete accounts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13776" y="1417320"/>
            <a:ext cx="3526536" cy="2148840"/>
          </a:xfrm>
          <a:prstGeom prst="roundRect">
            <a:avLst>
              <a:gd name="adj" fmla="val 3404"/>
            </a:avLst>
          </a:prstGeom>
          <a:solidFill>
            <a:srgbClr val="F4F7F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97240" y="1636776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5" name="Image 2" descr="/home/claude/krishsense-ppt/icons/check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799" y="1764335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3896" y="1636776"/>
            <a:ext cx="242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Review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314944" y="237744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reviewed → follow_up, with admin notes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822192"/>
            <a:ext cx="3526536" cy="2148840"/>
          </a:xfrm>
          <a:prstGeom prst="roundRect">
            <a:avLst>
              <a:gd name="adj" fmla="val 3404"/>
            </a:avLst>
          </a:prstGeom>
          <a:solidFill>
            <a:srgbClr val="F4F7F2"/>
          </a:solidFill>
          <a:ln/>
        </p:spPr>
      </p:sp>
      <p:sp>
        <p:nvSpPr>
          <p:cNvPr id="19" name="Shape 14"/>
          <p:cNvSpPr/>
          <p:nvPr/>
        </p:nvSpPr>
        <p:spPr>
          <a:xfrm>
            <a:off x="832104" y="4041648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0" name="Image 3" descr="/home/claude/krishsense-ppt/icons/bankno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63" y="4169207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041648"/>
            <a:ext cx="242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Review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9808" y="4782312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— approval auto-credits the wallet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31208" y="3822192"/>
            <a:ext cx="3526536" cy="2148840"/>
          </a:xfrm>
          <a:prstGeom prst="roundRect">
            <a:avLst>
              <a:gd name="adj" fmla="val 3404"/>
            </a:avLst>
          </a:prstGeom>
          <a:solidFill>
            <a:srgbClr val="F4F7F2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4672" y="4041648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5" name="Image 4" descr="/home/claude/krishsense-ppt/icons/shoppingc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231" y="4169207"/>
            <a:ext cx="311810" cy="3118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91328" y="4041648"/>
            <a:ext cx="242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32376" y="4782312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fulfillment status per order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13776" y="3822192"/>
            <a:ext cx="3526536" cy="2148840"/>
          </a:xfrm>
          <a:prstGeom prst="roundRect">
            <a:avLst>
              <a:gd name="adj" fmla="val 3404"/>
            </a:avLst>
          </a:prstGeom>
          <a:solidFill>
            <a:srgbClr val="F4F7F2"/>
          </a:solidFill>
          <a:ln/>
        </p:spPr>
      </p:sp>
      <p:sp>
        <p:nvSpPr>
          <p:cNvPr id="29" name="Shape 22"/>
          <p:cNvSpPr/>
          <p:nvPr/>
        </p:nvSpPr>
        <p:spPr>
          <a:xfrm>
            <a:off x="8397240" y="4041648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30" name="Image 5" descr="/home/claude/krishsense-ppt/icons/shield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799" y="4169207"/>
            <a:ext cx="311810" cy="31181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73896" y="4041648"/>
            <a:ext cx="2429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314944" y="4782312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gated by requireAuth + requireAdmin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Core Collections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Mongoose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2404872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" y="2715768"/>
            <a:ext cx="2990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passwordHash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farmer | admin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farmName, phone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walletBalance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7022592" cy="1188720"/>
          </a:xfrm>
          <a:prstGeom prst="roundRect">
            <a:avLst>
              <a:gd name="adj" fmla="val 6154"/>
            </a:avLst>
          </a:prstGeom>
          <a:solidFill>
            <a:srgbClr val="E4EEE7"/>
          </a:solidFill>
          <a:ln/>
        </p:spPr>
      </p:sp>
      <p:sp>
        <p:nvSpPr>
          <p:cNvPr id="8" name="Text 6"/>
          <p:cNvSpPr/>
          <p:nvPr/>
        </p:nvSpPr>
        <p:spPr>
          <a:xfrm>
            <a:off x="4745736" y="13533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45736" y="166420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status, input{}, image{}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result{ soilType, confidence, healthScore, ... 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3794760" y="1874520"/>
            <a:ext cx="822960" cy="1600200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2788920"/>
            <a:ext cx="7022592" cy="1188720"/>
          </a:xfrm>
          <a:prstGeom prst="roundRect">
            <a:avLst>
              <a:gd name="adj" fmla="val 6154"/>
            </a:avLst>
          </a:prstGeom>
          <a:solidFill>
            <a:srgbClr val="FBEFDA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8620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45736" y="317296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purpose, tenureMonths, status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repaidAmount, repayments[]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3794760" y="3383280"/>
            <a:ext cx="822960" cy="91440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4297680"/>
            <a:ext cx="7022592" cy="1188720"/>
          </a:xfrm>
          <a:prstGeom prst="roundRect">
            <a:avLst>
              <a:gd name="adj" fmla="val 6154"/>
            </a:avLst>
          </a:prstGeom>
          <a:solidFill>
            <a:srgbClr val="F4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43708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MarketOrder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45736" y="468172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itemId, quantity, unitPrice, totalPrice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confirmed | packed | delivered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3474720"/>
            <a:ext cx="822960" cy="1417320"/>
          </a:xfrm>
          <a:prstGeom prst="line">
            <a:avLst/>
          </a:prstGeom>
          <a:noFill/>
          <a:ln w="19050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88620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ObjectId ref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Reliability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21792" y="1490472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4" name="Image 0" descr="/home/claude/krishsense-ppt/icons/shiel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" y="1630375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1472184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CSP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89888" y="1801368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script, style &amp; connect sources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1792" y="2660904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8" name="Image 1" descr="/home/claude/krishsense-ppt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2800807"/>
            <a:ext cx="341986" cy="341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2642616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89888" y="2971800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12-round password hashes, never stored plain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1792" y="3831336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2" name="Image 2" descr="/home/claude/krishsense-ppt/icons/key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3971239"/>
            <a:ext cx="341986" cy="3419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9888" y="3813048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389888" y="4142232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signed tokens over a Bearer header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1792" y="5001768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16" name="Image 3" descr="/home/claude/krishsense-ppt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5141671"/>
            <a:ext cx="341986" cy="34198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89888" y="4983480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389888" y="5312664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requests / 15 min across all /api routes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167628" y="1490472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0" name="Image 4" descr="/home/claude/krishsense-ppt/icons/check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531" y="1630375"/>
            <a:ext cx="341986" cy="34198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35724" y="1472184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935724" y="1801368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body schema-checked first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167628" y="2660904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4" name="Image 5" descr="/home/claude/krishsense-ppt/icons/eyeo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531" y="2800807"/>
            <a:ext cx="341986" cy="34198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35724" y="2642616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Bank Data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935724" y="2971800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last 4 account digits are stored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167628" y="3831336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28" name="Image 6" descr="/home/claude/krishsense-ppt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531" y="3971239"/>
            <a:ext cx="341986" cy="34198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35724" y="3813048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Transactions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935724" y="4142232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sessions keep wallet balances consistent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6167628" y="5001768"/>
            <a:ext cx="621792" cy="621792"/>
          </a:xfrm>
          <a:prstGeom prst="ellipse">
            <a:avLst/>
          </a:prstGeom>
          <a:solidFill>
            <a:srgbClr val="1F4D3A"/>
          </a:solidFill>
          <a:ln/>
        </p:spPr>
      </p:sp>
      <p:pic>
        <p:nvPicPr>
          <p:cNvPr id="32" name="Image 7" descr="/home/claude/krishsense-ppt/icons/us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7531" y="5141671"/>
            <a:ext cx="341986" cy="34198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35724" y="4983480"/>
            <a:ext cx="4539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6935724" y="5312664"/>
            <a:ext cx="4539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requireAdmin gates every admin-only route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4F7F2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1673352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render.yaml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76656" y="1984248"/>
            <a:ext cx="51389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Node web service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buildCommand: npm ci &amp;&amp; npm run build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startCommand: npm start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healthCheckPath: /api/health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autoDeploy on every push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auto-generated; Mongo/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Cloudinary/Gemini keys set as secrets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BEFDA"/>
          </a:solidFill>
          <a:ln/>
        </p:spPr>
      </p:sp>
      <p:sp>
        <p:nvSpPr>
          <p:cNvPr id="7" name="Text 5"/>
          <p:cNvSpPr/>
          <p:nvPr/>
        </p:nvSpPr>
        <p:spPr>
          <a:xfrm>
            <a:off x="6345936" y="1673352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vercel.json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5936" y="1984248"/>
            <a:ext cx="51389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deployment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rewrites to api/index.js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rewrites to index.html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outputDirectory: dist (Vite build)</a:t>
            </a:r>
            <a:endParaRPr lang="en-US" sz="1100" dirty="0"/>
          </a:p>
          <a:p>
            <a:pPr algn="l" marL="127000" indent="-1270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Express app wrapped as a function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(Vite) produces dist/  →  served by Express on Render, or as static output on Vercel.  A check-env.js script validates required environment variables before startup.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End-to-End, In One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4326" y="22631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4" name="Image 0" descr="/home/claude/krishsense-ppt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864" y="2449678"/>
            <a:ext cx="404165" cy="4041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34718" y="2651760"/>
            <a:ext cx="925068" cy="9144"/>
          </a:xfrm>
          <a:prstGeom prst="line">
            <a:avLst/>
          </a:prstGeom>
          <a:noFill/>
          <a:ln w="22225">
            <a:solidFill>
              <a:srgbClr val="6FA287"/>
            </a:solidFill>
            <a:prstDash val="solid"/>
            <a:tailEnd type="triangle"/>
          </a:ln>
        </p:spPr>
      </p:sp>
      <p:sp>
        <p:nvSpPr>
          <p:cNvPr id="6" name="Text 3"/>
          <p:cNvSpPr/>
          <p:nvPr/>
        </p:nvSpPr>
        <p:spPr>
          <a:xfrm>
            <a:off x="640080" y="3204972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938" y="22631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8" name="Image 1" descr="/home/claude/krishsense-ppt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76" y="2449678"/>
            <a:ext cx="404165" cy="40416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83330" y="2651760"/>
            <a:ext cx="925068" cy="9144"/>
          </a:xfrm>
          <a:prstGeom prst="line">
            <a:avLst/>
          </a:prstGeom>
          <a:noFill/>
          <a:ln w="22225">
            <a:solidFill>
              <a:srgbClr val="6FA287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2488692" y="3204972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81550" y="22631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12" name="Image 2" descr="/home/claude/krishsense-ppt/icons/braincircu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088" y="2449678"/>
            <a:ext cx="404165" cy="40416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31942" y="2651760"/>
            <a:ext cx="925068" cy="9144"/>
          </a:xfrm>
          <a:prstGeom prst="line">
            <a:avLst/>
          </a:prstGeom>
          <a:noFill/>
          <a:ln w="22225">
            <a:solidFill>
              <a:srgbClr val="6FA287"/>
            </a:solidFill>
            <a:prstDash val="solid"/>
            <a:tailEnd type="triangle"/>
          </a:ln>
        </p:spPr>
      </p:sp>
      <p:sp>
        <p:nvSpPr>
          <p:cNvPr id="14" name="Text 9"/>
          <p:cNvSpPr/>
          <p:nvPr/>
        </p:nvSpPr>
        <p:spPr>
          <a:xfrm>
            <a:off x="4337304" y="3204972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630162" y="22631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16" name="Image 3" descr="/home/claude/krishsense-ppt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700" y="2449678"/>
            <a:ext cx="404165" cy="40416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80554" y="2651760"/>
            <a:ext cx="925068" cy="9144"/>
          </a:xfrm>
          <a:prstGeom prst="line">
            <a:avLst/>
          </a:prstGeom>
          <a:noFill/>
          <a:ln w="22225">
            <a:solidFill>
              <a:srgbClr val="6FA287"/>
            </a:solidFill>
            <a:prstDash val="solid"/>
            <a:tailEnd type="triangle"/>
          </a:ln>
        </p:spPr>
      </p:sp>
      <p:sp>
        <p:nvSpPr>
          <p:cNvPr id="18" name="Text 12"/>
          <p:cNvSpPr/>
          <p:nvPr/>
        </p:nvSpPr>
        <p:spPr>
          <a:xfrm>
            <a:off x="6185916" y="3204972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Result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478774" y="22631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20" name="Image 4" descr="/home/claude/krishsense-ppt/icons/wal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5312" y="2449678"/>
            <a:ext cx="404165" cy="40416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329166" y="2651760"/>
            <a:ext cx="925068" cy="9144"/>
          </a:xfrm>
          <a:prstGeom prst="line">
            <a:avLst/>
          </a:prstGeom>
          <a:noFill/>
          <a:ln w="22225">
            <a:solidFill>
              <a:srgbClr val="6FA287"/>
            </a:solidFill>
            <a:prstDash val="solid"/>
            <a:tailEnd type="triangle"/>
          </a:ln>
        </p:spPr>
      </p:sp>
      <p:sp>
        <p:nvSpPr>
          <p:cNvPr id="22" name="Text 15"/>
          <p:cNvSpPr/>
          <p:nvPr/>
        </p:nvSpPr>
        <p:spPr>
          <a:xfrm>
            <a:off x="8034528" y="3204972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/ Market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10327386" y="2263140"/>
            <a:ext cx="777240" cy="777240"/>
          </a:xfrm>
          <a:prstGeom prst="ellipse">
            <a:avLst/>
          </a:prstGeom>
          <a:solidFill>
            <a:srgbClr val="E4A94A"/>
          </a:solidFill>
          <a:ln/>
        </p:spPr>
      </p:sp>
      <p:pic>
        <p:nvPicPr>
          <p:cNvPr id="24" name="Image 5" descr="/home/claude/krishsense-ppt/icons/shield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3924" y="2449678"/>
            <a:ext cx="404165" cy="40416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83140" y="3204972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825703" y="4617720"/>
            <a:ext cx="837590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28" name="Text 20"/>
          <p:cNvSpPr/>
          <p:nvPr/>
        </p:nvSpPr>
        <p:spPr>
          <a:xfrm>
            <a:off x="825703" y="4617720"/>
            <a:ext cx="837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1754734" y="4617720"/>
            <a:ext cx="574243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30" name="Text 22"/>
          <p:cNvSpPr/>
          <p:nvPr/>
        </p:nvSpPr>
        <p:spPr>
          <a:xfrm>
            <a:off x="1754734" y="4617720"/>
            <a:ext cx="574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2420417" y="4617720"/>
            <a:ext cx="903427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32" name="Text 24"/>
          <p:cNvSpPr/>
          <p:nvPr/>
        </p:nvSpPr>
        <p:spPr>
          <a:xfrm>
            <a:off x="2420417" y="4617720"/>
            <a:ext cx="903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415284" y="4617720"/>
            <a:ext cx="771754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34" name="Text 26"/>
          <p:cNvSpPr/>
          <p:nvPr/>
        </p:nvSpPr>
        <p:spPr>
          <a:xfrm>
            <a:off x="3415284" y="4617720"/>
            <a:ext cx="7717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278478" y="4617720"/>
            <a:ext cx="837590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36" name="Text 28"/>
          <p:cNvSpPr/>
          <p:nvPr/>
        </p:nvSpPr>
        <p:spPr>
          <a:xfrm>
            <a:off x="4278478" y="4617720"/>
            <a:ext cx="837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207508" y="4617720"/>
            <a:ext cx="705917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38" name="Text 30"/>
          <p:cNvSpPr/>
          <p:nvPr/>
        </p:nvSpPr>
        <p:spPr>
          <a:xfrm>
            <a:off x="5207508" y="4617720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004865" y="4617720"/>
            <a:ext cx="969264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40" name="Text 32"/>
          <p:cNvSpPr/>
          <p:nvPr/>
        </p:nvSpPr>
        <p:spPr>
          <a:xfrm>
            <a:off x="6004865" y="461772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7065569" y="4617720"/>
            <a:ext cx="508406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42" name="Text 34"/>
          <p:cNvSpPr/>
          <p:nvPr/>
        </p:nvSpPr>
        <p:spPr>
          <a:xfrm>
            <a:off x="7065569" y="4617720"/>
            <a:ext cx="508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7665415" y="4617720"/>
            <a:ext cx="705917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44" name="Text 36"/>
          <p:cNvSpPr/>
          <p:nvPr/>
        </p:nvSpPr>
        <p:spPr>
          <a:xfrm>
            <a:off x="7665415" y="4617720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8462772" y="4617720"/>
            <a:ext cx="705917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46" name="Text 38"/>
          <p:cNvSpPr/>
          <p:nvPr/>
        </p:nvSpPr>
        <p:spPr>
          <a:xfrm>
            <a:off x="8462772" y="4617720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9260129" y="4617720"/>
            <a:ext cx="508406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48" name="Text 40"/>
          <p:cNvSpPr/>
          <p:nvPr/>
        </p:nvSpPr>
        <p:spPr>
          <a:xfrm>
            <a:off x="9260129" y="4617720"/>
            <a:ext cx="5084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9859975" y="4617720"/>
            <a:ext cx="705917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50" name="Text 42"/>
          <p:cNvSpPr/>
          <p:nvPr/>
        </p:nvSpPr>
        <p:spPr>
          <a:xfrm>
            <a:off x="9859975" y="4617720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10657332" y="4617720"/>
            <a:ext cx="705917" cy="365760"/>
          </a:xfrm>
          <a:prstGeom prst="roundRect">
            <a:avLst>
              <a:gd name="adj" fmla="val 125000"/>
            </a:avLst>
          </a:prstGeom>
          <a:solidFill>
            <a:srgbClr val="163A2B"/>
          </a:solidFill>
          <a:ln/>
        </p:spPr>
      </p:sp>
      <p:sp>
        <p:nvSpPr>
          <p:cNvPr id="52" name="Text 44"/>
          <p:cNvSpPr/>
          <p:nvPr/>
        </p:nvSpPr>
        <p:spPr>
          <a:xfrm>
            <a:off x="10657332" y="4617720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KrishiSense — turning a soil photo into actionable farming guidance.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2026-08-23T17:14:50Z</dcterms:created>
  <dcterms:modified xsi:type="dcterms:W3CDTF">2026-08-23T17:14:50Z</dcterms:modified>
</cp:coreProperties>
</file>